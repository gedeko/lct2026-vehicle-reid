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notesSlides/notesSlide2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style2.xml" ContentType="application/vnd.ms-office.chartstyle+xml"/>
  <Override PartName="/ppt/slideLayouts/slideLayout7.xml" ContentType="application/vnd.openxmlformats-officedocument.presentationml.slideLayout+xml"/>
  <Override PartName="/ppt/charts/chart1.xml" ContentType="application/vnd.openxmlformats-officedocument.drawingml.char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olors2.xml" ContentType="application/vnd.ms-office.chartcolorstyl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charts/colors1.xml" ContentType="application/vnd.ms-office.chartcolorstyl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harts/chart2.xml" ContentType="application/vnd.openxmlformats-officedocument.drawingml.chart+xml"/>
  <Override PartName="/ppt/charts/style1.xml" ContentType="application/vnd.ms-office.chartstyle+xml"/>
  <Override PartName="/ppt/viewProps.xml" ContentType="application/vnd.openxmlformats-officedocument.presentationml.viewProps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56" r:id="rId4"/>
    <p:sldId id="257" r:id="rId21"/>
    <p:sldId id="258" r:id="rId23"/>
    <p:sldId id="259" r:id="rId28"/>
    <p:sldId id="260" r:id="rId24"/>
    <p:sldId id="261" r:id="rId19"/>
    <p:sldId id="262" r:id="rId17"/>
    <p:sldId id="263" r:id="rId25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14.xml"/><Relationship Id="rId19" Type="http://schemas.openxmlformats.org/officeDocument/2006/relationships/slide" Target="slides/slide16.xml"/><Relationship Id="rId21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Style" Target="style2.xml" /><Relationship Id="rId3" Type="http://schemas.microsoft.com/office/2011/relationships/chartColorStyle" Target="colors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mAP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Baseline</c:v>
                </c:pt>
                <c:pt idx="1">
                  <c:v>v3 (сломан)</c:v>
                </c:pt>
                <c:pt idx="2">
                  <c:v>v4</c:v>
                </c:pt>
                <c:pt idx="3">
                  <c:v>v5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0.30</c:v>
                </c:pt>
                <c:pt idx="1">
                  <c:v>0.24</c:v>
                </c:pt>
                <c:pt idx="2">
                  <c:v>0.51</c:v>
                </c:pt>
                <c:pt idx="3">
                  <c:v>0.76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Rank-1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Baseline</c:v>
                </c:pt>
                <c:pt idx="1">
                  <c:v>v3 (сломан)</c:v>
                </c:pt>
                <c:pt idx="2">
                  <c:v>v4</c:v>
                </c:pt>
                <c:pt idx="3">
                  <c:v>v5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0.35</c:v>
                </c:pt>
                <c:pt idx="1">
                  <c:v>0.24</c:v>
                </c:pt>
                <c:pt idx="2">
                  <c:v>0.53</c:v>
                </c:pt>
                <c:pt idx="3">
                  <c:v>0.79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C47A06-960F-983E-3E35-94F51F621F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99ED4-F20B-0701-D13A-3B951D3B50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DemoImg" Type="http://schemas.openxmlformats.org/officeDocument/2006/relationships/image" Target="../media/image_demo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chart" Target="../charts/char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683076" name="Номер слайда 2"/>
          <p:cNvSpPr>
            <a:spLocks noGrp="1"/>
          </p:cNvSpPr>
          <p:nvPr>
            <p:ph type="sldNum" sz="quarter" idx="4"/>
          </p:nvPr>
        </p:nvSpPr>
        <p:spPr bwMode="auto">
          <a:xfrm>
            <a:off x="11418327" y="6356362"/>
            <a:ext cx="7028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  <p:sp>
        <p:nvSpPr>
          <p:cNvPr id="888001" name="Подзаголовок проекта"/>
          <p:cNvSpPr txBox="1"/>
          <p:nvPr/>
        </p:nvSpPr>
        <p:spPr>
          <a:xfrm>
            <a:off x="253594" y="5450000"/>
            <a:ext cx="8000000" cy="50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ru-RU" sz="1800" b="1">
                <a:solidFill>
                  <a:srgbClr val="FFFFFF"/>
                </a:solidFill>
                <a:latin typeface="Montserrat"/>
              </a:rPr>
              <a:t>AdequacyOFF — идентификация автомобиля по камерам без номера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>
                <a:solidFill>
                  <a:srgbClr val="FFFFFF"/>
                </a:solidFill>
              </a:rPr>
              <a:t>Команда</a:t>
            </a:r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>
                <a:solidFill>
                  <a:srgbClr val="FFFFFF"/>
                </a:solidFill>
              </a:rPr>
              <a:t>Кто делал и как дошли до результата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Не готовая модель из коробки: дообученный ArcFace на DINOv2-Large поверх своего объединённого датасета (Drom.ru + BoxCars116k, 10 387 identities). Честная валидация на невиданных машинах — mAP 0.76, Rank-1 0.79.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Владислав Баев — TeamLead, FullStack/Mobile/UI-UX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5 человек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Команда AdequacyOFF — сложившийся состав, вместе участвуем в хакатонах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Backend, ML, FullStack и Mobile-разработчики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/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Находим один и тот же автомобиль на разных городских камерах по внешнему виду — без опоры на номер, который часто грязный, скрыт или не попадает в кадр.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Backend, DevOps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Андрей Столов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FullStack, Mobile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Георгий Демьяненко</a:t>
            </a:r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ML-специалист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Игорь Миронов</a:t>
            </a:r>
            <a:endParaRPr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Backend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Дмитрий Плаксеев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/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TeamLead, FullStack, Mobile, UI/UX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Владислав Баев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/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Команда AdequacyOFF собралась заранее и регулярно участвует в хакатонах вместе — состав проверен на нескольких проектах подряд.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Снизили margin до 0.05, пересчитали — метрика выросла с mAP 0.24 (хуже baseline!) до</a:t>
            </a:r>
            <a:r>
              <a:rPr lang="en-US">
                <a:solidFill>
                  <a:schemeClr val="tx1"/>
                </a:solidFill>
              </a:rPr>
              <a:t>0.76 на дообученном DINOv2-Large.</a:t>
            </a:r>
            <a:r>
              <a:rPr lang="ru-RU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 </a:t>
            </a:r>
            <a:endParaRPr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Главный вызов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Первый прогон обучения (ArcFace margin=0.30) не сходился вообще — train accuracy была нулевой все 15 эпох. Без честной валидации, которую пришлось добавлять отдельно, это осталось бы незамеченным.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Честно измерить, что дообучение реально даёт против модели из коробки — а не просто взять готовый эмбеддер на веру.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выбрали именно эту задачу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Редкий случай, где реально нужен computer vision, а не обвязка вокруг готовой LLM — и понятная социальная польза: розыск угона, реконструкция ДТП.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Детекция (YOLO) → эмбеддинг (DINOv2-Large, дообученный ArcFace, mAP 0.76 на честном val) → векторный поиск (FAISS) → атрибуты (CLIP). FastAPI-бэкенд на GPU, веб-интерфейс на React/TypeScript.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Розыск угнанных машин и реконструкция маршрута по камерам без читаемого номера. Дальше — реранкинг, гео-фильтр по камерам,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проверка на официальном бенчмарке VeRi-776.</a:t>
            </a: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/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1C1D22"/>
                </a:solidFill>
              </a:rPr>
              <a:t>Спасибо!</a:t>
            </a: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rgbClr val="1C1D22"/>
                </a:solidFill>
              </a:rPr>
              <a:t>github.com/GeDeKo/lct2026-vehicle-reid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6791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Работающий прототип</a:t>
            </a:r>
          </a:p>
        </p:txBody>
      </p:sp>
      <p:pic>
        <p:nvPicPr>
          <p:cNvPr id="999001" name="Демо скриншот"/>
          <p:cNvPicPr>
            <a:picLocks noChangeAspect="1"/>
          </p:cNvPicPr>
          <p:nvPr>
            <p:ph type="pic" sz="quarter" idx="10"/>
          </p:nvPr>
        </p:nvPicPr>
        <p:blipFill>
          <a:blip r:embed="rIdDemoImg"/>
          <a:stretch>
            <a:fillRect/>
          </a:stretch>
        </p:blipFill>
        <p:spPr bwMode="auto">
          <a:xfrm>
            <a:off x="7440147" y="1016001"/>
            <a:ext cx="4405777" cy="3078479"/>
          </a:xfrm>
          <a:prstGeom prst="roundRect">
            <a:avLst>
              <a:gd name="adj" fmla="val 3000"/>
            </a:avLst>
          </a:prstGeom>
          <a:ln w="12700">
            <a:solidFill>
              <a:schemeClr val="bg1"/>
            </a:solidFill>
          </a:ln>
        </p:spPr>
      </p:pic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Загрузил фото — получил профиль машины и топ-10 похожих с процентом схожести. Живой интерфейс, реальные данные, дообученная модель.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215 из 1038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неверных top-1 ответов на валидации — 20.7%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Похожие модели путает чаще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напр. Peugeot 408 (93%) вместо другого Peugeot 408 того же цвета — правильный ответ был на 2-м месте (87%)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Ошибка редко фатальна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даже при неверном top-1 правильный ответ почти всегда в топ-3–4, не теряется совсем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Реальные камеры сложнее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фото BoxCars (настоящие камеры) путаются чаще, чем чистые студийные фото Drom</a:t>
            </a: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/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/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/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/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/>
        </p:txBody>
      </p:sp>
      <p:sp>
        <p:nvSpPr>
          <p:cNvPr id="777001" name="overlay title"/>
          <p:cNvSpPr txBox="1"/>
          <p:nvPr/>
        </p:nvSpPr>
        <p:spPr>
          <a:xfrm>
            <a:off x="500000" y="480000"/>
            <a:ext cx="42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ru-RU" sz="2000" b="1">
                <a:solidFill>
                  <a:srgbClr val="FFFFFF"/>
                </a:solidFill>
                <a:latin typeface="Montserrat"/>
              </a:rPr>
              <a:t>ЧЕСТНЫЙ АНАЛИЗ ОШИБОК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Номер не всегда виден</a:t>
            </a: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Грязный, закрытый номер, ночная съёмка, неудобный ракурс — на реальных городских камерах номер часто нечитаем</a:t>
            </a: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Нужна другая зацепка</a:t>
            </a: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Найти ту же машину на другой камере по внешнему виду — марка, цвет, силуэт, мелкие детали</a:t>
            </a: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Розыск и реконструкция</a:t>
            </a: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Угон, ДТП со скрывшимся с места, восстановление маршрута движения</a:t>
            </a: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Наша задача</a:t>
            </a: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Дать оператору ранжированный список вероятных совпадений — решение принимает человек</a:t>
            </a: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Без опоры</a:t>
            </a: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на госномер</a:t>
            </a: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/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/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/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/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/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/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/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/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/>
        </p:txBody>
      </p:sp>
      <p:sp>
        <p:nvSpPr>
          <p:cNvPr id="777001" name="overlay title"/>
          <p:cNvSpPr txBox="1"/>
          <p:nvPr/>
        </p:nvSpPr>
        <p:spPr>
          <a:xfrm>
            <a:off x="500000" y="4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ru-RU" sz="2000" b="1">
                <a:solidFill>
                  <a:srgbClr val="FFFFFF"/>
                </a:solidFill>
                <a:latin typeface="Montserrat"/>
              </a:rPr>
              <a:t>ПРОБЛЕМА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3600" b="1">
                <a:solidFill>
                  <a:schemeClr val="tx1"/>
                </a:solidFill>
              </a:rPr>
              <a:t>Backbone</a:t>
            </a: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Сравнили DINOv2 и CLIP как основу эмбеддера. DINOv2 лучше держит мелкие визуальные детали — диски, потёртости, наклейки.</a:t>
            </a: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DINOv2-Large, не CLIP — точнее на fine-grained деталях кузова</a:t>
            </a: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ArcFace, не обычный softmax — явно раздвигает угловое расстояние между разными машинами</a:t>
            </a: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Полный fine-tune backbone, не LoRA — на 10 387 identities важнее ёмкость модели</a:t>
            </a: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camera_augment.py имитирует ракурс и освещение камер поверх студийных фото — закрывает разрыв домена</a:t>
            </a: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Методология и выбор backbone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/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0.76</a:t>
            </a: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mAP на честном val-сплите (невиданные на train машины)</a:t>
            </a: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0.79</a:t>
            </a: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Rank-1 — угадывает машину с первой попытки</a:t>
            </a: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×3.1</a:t>
            </a: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против сломанного первого прогона обучения (margin=0.30)</a:t>
            </a:r>
          </a:p>
        </p:txBody>
      </p:sp>
      <p:graphicFrame>
        <p:nvGraphicFramePr>
          <p:cNvPr id="668511626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rPr lang="ru-RU"/>
              <a:t>Обучение: от нуля до результата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FAISS Flat → IVF/HNSW</a:t>
            </a: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При 500k+ записей — сейчас Flat точнее и достаточно</a:t>
            </a: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Асинхронная очередь энкодинга</a:t>
            </a: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Батч-обработка кадров с камер, не по одному запросу</a:t>
            </a: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Реранкинг + гео-фильтр</a:t>
            </a: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k-reciprocal + отсечение физически невозможных по времени/месту совпадений</a:t>
            </a: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Готовые головы атрибутов</a:t>
            </a: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Марка/модель уже обучены (brand_acc 0.70) — осталось подключить в прод</a:t>
            </a:r>
          </a:p>
        </p:txBody>
      </p:sp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План масштабирования и следующие шаги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/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Кадр с камеры</a:t>
            </a: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Фото или видео с городской камеры наблюдения</a:t>
            </a: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DINOv2 + ArcFace</a:t>
            </a: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Дообученный эмбеддер превращает кроп в 1024-мерный вектор</a:t>
            </a: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Профиль + совпадения</a:t>
            </a: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Марка, цвет, кузов и ранжированный список похожих машин</a:t>
            </a: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YOLO находит машину</a:t>
            </a: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Детектор выделяет автомобиль в кадре, кроп с паддингом</a:t>
            </a: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FAISS ищет похожих</a:t>
            </a: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Косинусная близость по базе кропов с других камер</a:t>
            </a: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Как это работает: от кадра до профиля машины</a:t>
            </a:r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/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/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/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/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